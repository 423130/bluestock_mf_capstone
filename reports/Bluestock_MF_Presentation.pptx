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4E79"/>
                </a:solidFill>
                <a:latin typeface="Arial"/>
              </a:rPr>
              <a:t>Monthly SIP Inflows (₹ Crore)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(₹ Cr)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Jan'22</c:v>
                  </c:pt>
                  <c:pt idx="1">
                    <c:v>Jul'22</c:v>
                  </c:pt>
                  <c:pt idx="2">
                    <c:v>Jan'23</c:v>
                  </c:pt>
                  <c:pt idx="3">
                    <c:v>Jul'23</c:v>
                  </c:pt>
                  <c:pt idx="4">
                    <c:v>Jan'24</c:v>
                  </c:pt>
                  <c:pt idx="5">
                    <c:v>Jul'24</c:v>
                  </c:pt>
                  <c:pt idx="6">
                    <c:v>Jan'25</c:v>
                  </c:pt>
                  <c:pt idx="7">
                    <c:v>Dec'25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11035</c:v>
                </c:pt>
                <c:pt idx="1">
                  <c:v>12140</c:v>
                </c:pt>
                <c:pt idx="2">
                  <c:v>13856</c:v>
                </c:pt>
                <c:pt idx="3">
                  <c:v>15245</c:v>
                </c:pt>
                <c:pt idx="4">
                  <c:v>18838</c:v>
                </c:pt>
                <c:pt idx="5">
                  <c:v>23332</c:v>
                </c:pt>
                <c:pt idx="6">
                  <c:v>26459</c:v>
                </c:pt>
                <c:pt idx="7">
                  <c:v>31002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4E79"/>
                </a:solidFill>
                <a:latin typeface="Arial"/>
              </a:rPr>
              <a:t>Folio Count (Crore)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Folios (Crore)</c:v>
                </c:pt>
              </c:strCache>
            </c:strRef>
          </c:tx>
          <c:spPr>
            <a:solidFill>
              <a:srgbClr val="1F4E79"/>
            </a:solidFill>
            <a:ln w="3810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4E7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Jan'22</c:v>
                  </c:pt>
                  <c:pt idx="1">
                    <c:v>Jan'23</c:v>
                  </c:pt>
                  <c:pt idx="2">
                    <c:v>Jan'24</c:v>
                  </c:pt>
                  <c:pt idx="3">
                    <c:v>Dec'25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13.26</c:v>
                </c:pt>
                <c:pt idx="1">
                  <c:v>16.28</c:v>
                </c:pt>
                <c:pt idx="2">
                  <c:v>18.91</c:v>
                </c:pt>
                <c:pt idx="3">
                  <c:v>26.12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4E7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4E79"/>
                </a:solidFill>
                <a:latin typeface="Arial"/>
              </a:rPr>
              <a:t>Normalised Growth (Base = 100, Jan 2022)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ICICI Pru Midcap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Jan'22</c:v>
                  </c:pt>
                  <c:pt idx="1">
                    <c:v>Jan'23</c:v>
                  </c:pt>
                  <c:pt idx="2">
                    <c:v>Jan'24</c:v>
                  </c:pt>
                  <c:pt idx="3">
                    <c:v>Jan'25</c:v>
                  </c:pt>
                  <c:pt idx="4">
                    <c:v>May'26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128</c:v>
                </c:pt>
                <c:pt idx="2">
                  <c:v>195</c:v>
                </c:pt>
                <c:pt idx="3">
                  <c:v>278</c:v>
                </c:pt>
                <c:pt idx="4">
                  <c:v>338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Mirae Asset LargeCap</c:v>
                </c:pt>
              </c:strCache>
            </c:strRef>
          </c:tx>
          <c:spPr>
            <a:solidFill>
              <a:srgbClr val="1F4E79"/>
            </a:solidFill>
            <a:ln w="3175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Jan'22</c:v>
                  </c:pt>
                  <c:pt idx="1">
                    <c:v>Jan'23</c:v>
                  </c:pt>
                  <c:pt idx="2">
                    <c:v>Jan'24</c:v>
                  </c:pt>
                  <c:pt idx="3">
                    <c:v>Jan'25</c:v>
                  </c:pt>
                  <c:pt idx="4">
                    <c:v>May'26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115</c:v>
                </c:pt>
                <c:pt idx="2">
                  <c:v>178</c:v>
                </c:pt>
                <c:pt idx="3">
                  <c:v>249</c:v>
                </c:pt>
                <c:pt idx="4">
                  <c:v>310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Kotak Flexicap</c:v>
                </c:pt>
              </c:strCache>
            </c:strRef>
          </c:tx>
          <c:spPr>
            <a:solidFill>
              <a:srgbClr val="00B4D8"/>
            </a:solidFill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Jan'22</c:v>
                  </c:pt>
                  <c:pt idx="1">
                    <c:v>Jan'23</c:v>
                  </c:pt>
                  <c:pt idx="2">
                    <c:v>Jan'24</c:v>
                  </c:pt>
                  <c:pt idx="3">
                    <c:v>Jan'25</c:v>
                  </c:pt>
                  <c:pt idx="4">
                    <c:v>May'26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</c:v>
                </c:pt>
                <c:pt idx="1">
                  <c:v>119</c:v>
                </c:pt>
                <c:pt idx="2">
                  <c:v>168</c:v>
                </c:pt>
                <c:pt idx="3">
                  <c:v>239</c:v>
                </c:pt>
                <c:pt idx="4">
                  <c:v>295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HDFC MidCap Opp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Jan'22</c:v>
                  </c:pt>
                  <c:pt idx="1">
                    <c:v>Jan'23</c:v>
                  </c:pt>
                  <c:pt idx="2">
                    <c:v>Jan'24</c:v>
                  </c:pt>
                  <c:pt idx="3">
                    <c:v>Jan'25</c:v>
                  </c:pt>
                  <c:pt idx="4">
                    <c:v>May'26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100</c:v>
                </c:pt>
                <c:pt idx="1">
                  <c:v>122</c:v>
                </c:pt>
                <c:pt idx="2">
                  <c:v>175</c:v>
                </c:pt>
                <c:pt idx="3">
                  <c:v>243</c:v>
                </c:pt>
                <c:pt idx="4">
                  <c:v>302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Nifty 50 (Benchmark)</c:v>
                </c:pt>
              </c:strCache>
            </c:strRef>
          </c:tx>
          <c:spPr>
            <a:solidFill>
              <a:srgbClr val="94A3B8"/>
            </a:solidFill>
            <a:ln w="3175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Jan'22</c:v>
                  </c:pt>
                  <c:pt idx="1">
                    <c:v>Jan'23</c:v>
                  </c:pt>
                  <c:pt idx="2">
                    <c:v>Jan'24</c:v>
                  </c:pt>
                  <c:pt idx="3">
                    <c:v>Jan'25</c:v>
                  </c:pt>
                  <c:pt idx="4">
                    <c:v>May'26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100</c:v>
                </c:pt>
                <c:pt idx="1">
                  <c:v>109</c:v>
                </c:pt>
                <c:pt idx="2">
                  <c:v>132</c:v>
                </c:pt>
                <c:pt idx="3">
                  <c:v>151</c:v>
                </c:pt>
                <c:pt idx="4">
                  <c:v>168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4E79"/>
                </a:solidFill>
                <a:latin typeface="Arial"/>
              </a:rPr>
              <a:t>Top 10 Funds by Sharpe Ratio (Rf = 6.5%)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 Ratio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HDFC Short Term Debt</c:v>
                  </c:pt>
                  <c:pt idx="1">
                    <c:v>ABSL Liquid</c:v>
                  </c:pt>
                  <c:pt idx="2">
                    <c:v>Nippon Liquid</c:v>
                  </c:pt>
                  <c:pt idx="3">
                    <c:v>ICICI Pru Liquid</c:v>
                  </c:pt>
                  <c:pt idx="4">
                    <c:v>Kotak Liquid</c:v>
                  </c:pt>
                  <c:pt idx="5">
                    <c:v>HDFC Top 100</c:v>
                  </c:pt>
                  <c:pt idx="6">
                    <c:v>ICICI Pru Bluechip</c:v>
                  </c:pt>
                  <c:pt idx="7">
                    <c:v>ABSL Frontline</c:v>
                  </c:pt>
                  <c:pt idx="8">
                    <c:v>Mirae LargeCap</c:v>
                  </c:pt>
                  <c:pt idx="9">
                    <c:v>DSP Top 100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1.84</c:v>
                </c:pt>
                <c:pt idx="1">
                  <c:v>5.14</c:v>
                </c:pt>
                <c:pt idx="2">
                  <c:v>4.87</c:v>
                </c:pt>
                <c:pt idx="3">
                  <c:v>4.62</c:v>
                </c:pt>
                <c:pt idx="4">
                  <c:v>4.41</c:v>
                </c:pt>
                <c:pt idx="5">
                  <c:v>1.06</c:v>
                </c:pt>
                <c:pt idx="6">
                  <c:v>1.03</c:v>
                </c:pt>
                <c:pt idx="7">
                  <c:v>0.98</c:v>
                </c:pt>
                <c:pt idx="8">
                  <c:v>0.97</c:v>
                </c:pt>
                <c:pt idx="9">
                  <c:v>0.92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3yr CAGR (30%)</c:v>
                </c:pt>
                <c:pt idx="1">
                  <c:v>Sharpe Ratio (25%)</c:v>
                </c:pt>
                <c:pt idx="2">
                  <c:v>Alpha (20%)</c:v>
                </c:pt>
                <c:pt idx="3">
                  <c:v>Exp. Ratio Inv. (15%)</c:v>
                </c:pt>
                <c:pt idx="4">
                  <c:v>Max DD Inv. (10%)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4E79"/>
                </a:solidFill>
                <a:latin typeface="Arial"/>
              </a:rPr>
              <a:t>Maximum Drawdown by Scheme (Worst Peak-to-Trough)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Max Drawdown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HDFC Short Term Debt</c:v>
                  </c:pt>
                  <c:pt idx="1">
                    <c:v>ABSL Liquid</c:v>
                  </c:pt>
                  <c:pt idx="2">
                    <c:v>Kotak Liquid</c:v>
                  </c:pt>
                  <c:pt idx="3">
                    <c:v>UTI Flexi Cap</c:v>
                  </c:pt>
                  <c:pt idx="4">
                    <c:v>ABSL Frontline Eq</c:v>
                  </c:pt>
                  <c:pt idx="5">
                    <c:v>DSP Small Cap</c:v>
                  </c:pt>
                  <c:pt idx="6">
                    <c:v>ABSL Small Cap</c:v>
                  </c:pt>
                  <c:pt idx="7">
                    <c:v>Axis Midcap</c:v>
                  </c:pt>
                  <c:pt idx="8">
                    <c:v>HDFC Top 100 Direct</c:v>
                  </c:pt>
                  <c:pt idx="9">
                    <c:v>HDFC MidCap Opp Direct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-6.01</c:v>
                </c:pt>
                <c:pt idx="1">
                  <c:v>-3.66</c:v>
                </c:pt>
                <c:pt idx="2">
                  <c:v>-4.12</c:v>
                </c:pt>
                <c:pt idx="3">
                  <c:v>-14.22</c:v>
                </c:pt>
                <c:pt idx="4">
                  <c:v>-15.07</c:v>
                </c:pt>
                <c:pt idx="5">
                  <c:v>-17.01</c:v>
                </c:pt>
                <c:pt idx="6">
                  <c:v>-23.61</c:v>
                </c:pt>
                <c:pt idx="7">
                  <c:v>-32.38</c:v>
                </c:pt>
                <c:pt idx="8">
                  <c:v>-33.5</c:v>
                </c:pt>
                <c:pt idx="9">
                  <c:v>-32.22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4E79"/>
                </a:solidFill>
                <a:latin typeface="Arial"/>
              </a:rPr>
              <a:t>Investment Volume by Age Group (₹ Billion)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Volume (₹ Bn)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26–35</c:v>
                  </c:pt>
                  <c:pt idx="1">
                    <c:v>36–45</c:v>
                  </c:pt>
                  <c:pt idx="2">
                    <c:v>18–25</c:v>
                  </c:pt>
                  <c:pt idx="3">
                    <c:v>46–55</c:v>
                  </c:pt>
                  <c:pt idx="4">
                    <c:v>56+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2.1</c:v>
                </c:pt>
                <c:pt idx="1">
                  <c:v>1.75</c:v>
                </c:pt>
                <c:pt idx="2">
                  <c:v>0.42</c:v>
                </c:pt>
                <c:pt idx="3">
                  <c:v>1.18</c:v>
                </c:pt>
                <c:pt idx="4">
                  <c:v>0.68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1F4E79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SIP (58.49%)</c:v>
                </c:pt>
                <c:pt idx="1">
                  <c:v>Lumpsum (35.34%)</c:v>
                </c:pt>
                <c:pt idx="2">
                  <c:v>Redemption (6.17%)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58.49</c:v>
                </c:pt>
                <c:pt idx="1">
                  <c:v>35.34</c:v>
                </c:pt>
                <c:pt idx="2">
                  <c:v>6.17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4E79"/>
                </a:solidFill>
                <a:latin typeface="Arial"/>
              </a:rPr>
              <a:t>By State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Billion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Maharashtra</c:v>
                  </c:pt>
                  <c:pt idx="1">
                    <c:v>Delhi</c:v>
                  </c:pt>
                  <c:pt idx="2">
                    <c:v>Karnataka</c:v>
                  </c:pt>
                  <c:pt idx="3">
                    <c:v>Haryana</c:v>
                  </c:pt>
                  <c:pt idx="4">
                    <c:v>UP</c:v>
                  </c:pt>
                  <c:pt idx="5">
                    <c:v>Gujarat</c:v>
                  </c:pt>
                  <c:pt idx="6">
                    <c:v>WB</c:v>
                  </c:pt>
                  <c:pt idx="7">
                    <c:v>Rajasthan</c:v>
                  </c:pt>
                  <c:pt idx="8">
                    <c:v>MP</c:v>
                  </c:pt>
                  <c:pt idx="9">
                    <c:v>Tamil Nadu</c:v>
                  </c:pt>
                  <c:pt idx="10">
                    <c:v>Telangana</c:v>
                  </c:pt>
                  <c:pt idx="11">
                    <c:v>Punjab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0.32</c:v>
                </c:pt>
                <c:pt idx="1">
                  <c:v>0.28</c:v>
                </c:pt>
                <c:pt idx="2">
                  <c:v>0.24</c:v>
                </c:pt>
                <c:pt idx="3">
                  <c:v>0.21</c:v>
                </c:pt>
                <c:pt idx="4">
                  <c:v>0.19</c:v>
                </c:pt>
                <c:pt idx="5">
                  <c:v>0.17</c:v>
                </c:pt>
                <c:pt idx="6">
                  <c:v>0.16</c:v>
                </c:pt>
                <c:pt idx="7">
                  <c:v>0.15</c:v>
                </c:pt>
                <c:pt idx="8">
                  <c:v>0.14</c:v>
                </c:pt>
                <c:pt idx="9">
                  <c:v>0.13</c:v>
                </c:pt>
                <c:pt idx="10">
                  <c:v>0.12</c:v>
                </c:pt>
                <c:pt idx="11">
                  <c:v>0.11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4E79"/>
                </a:solidFill>
                <a:latin typeface="Arial"/>
              </a:rPr>
              <a:t>Herfindahl-Hirschman Index by Fund (Lower = More Diversified)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Sector HHI 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UTI Flexi Cap</c:v>
                  </c:pt>
                  <c:pt idx="1">
                    <c:v>ABSL Frontline Eq</c:v>
                  </c:pt>
                  <c:pt idx="2">
                    <c:v>Mirae LargeCap</c:v>
                  </c:pt>
                  <c:pt idx="3">
                    <c:v>DSP Top 100</c:v>
                  </c:pt>
                  <c:pt idx="4">
                    <c:v>HDFC Top 100</c:v>
                  </c:pt>
                  <c:pt idx="5">
                    <c:v>Axis Bluechip</c:v>
                  </c:pt>
                  <c:pt idx="6">
                    <c:v>Kotak Flexicap</c:v>
                  </c:pt>
                  <c:pt idx="7">
                    <c:v>ICICI Midcap</c:v>
                  </c:pt>
                  <c:pt idx="8">
                    <c:v>HDFC MidCap Opp</c:v>
                  </c:pt>
                  <c:pt idx="9">
                    <c:v>ABSL Small Cap</c:v>
                  </c:pt>
                  <c:pt idx="10">
                    <c:v>Axis Small Cap</c:v>
                  </c:pt>
                  <c:pt idx="11">
                    <c:v>DSP Small Cap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1220</c:v>
                </c:pt>
                <c:pt idx="1">
                  <c:v>1280</c:v>
                </c:pt>
                <c:pt idx="2">
                  <c:v>1310</c:v>
                </c:pt>
                <c:pt idx="3">
                  <c:v>1450</c:v>
                </c:pt>
                <c:pt idx="4">
                  <c:v>1510</c:v>
                </c:pt>
                <c:pt idx="5">
                  <c:v>1640</c:v>
                </c:pt>
                <c:pt idx="6">
                  <c:v>1720</c:v>
                </c:pt>
                <c:pt idx="7">
                  <c:v>1890</c:v>
                </c:pt>
                <c:pt idx="8">
                  <c:v>2050</c:v>
                </c:pt>
                <c:pt idx="9">
                  <c:v>2240</c:v>
                </c:pt>
                <c:pt idx="10">
                  <c:v>2410</c:v>
                </c:pt>
                <c:pt idx="11">
                  <c:v>2690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4E79"/>
                </a:solidFill>
                <a:latin typeface="Arial"/>
              </a:rPr>
              <a:t>Normalised Growth vs Benchmarks (Base 100)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ICICI Pru Midcap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Jan'22</c:v>
                  </c:pt>
                  <c:pt idx="1">
                    <c:v>Jan'23</c:v>
                  </c:pt>
                  <c:pt idx="2">
                    <c:v>Jan'24</c:v>
                  </c:pt>
                  <c:pt idx="3">
                    <c:v>Jan'25</c:v>
                  </c:pt>
                  <c:pt idx="4">
                    <c:v>May'26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128</c:v>
                </c:pt>
                <c:pt idx="2">
                  <c:v>195</c:v>
                </c:pt>
                <c:pt idx="3">
                  <c:v>278</c:v>
                </c:pt>
                <c:pt idx="4">
                  <c:v>338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HDFC MidCap Opp</c:v>
                </c:pt>
              </c:strCache>
            </c:strRef>
          </c:tx>
          <c:spPr>
            <a:solidFill>
              <a:srgbClr val="00B4D8"/>
            </a:solidFill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Jan'22</c:v>
                  </c:pt>
                  <c:pt idx="1">
                    <c:v>Jan'23</c:v>
                  </c:pt>
                  <c:pt idx="2">
                    <c:v>Jan'24</c:v>
                  </c:pt>
                  <c:pt idx="3">
                    <c:v>Jan'25</c:v>
                  </c:pt>
                  <c:pt idx="4">
                    <c:v>May'26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122</c:v>
                </c:pt>
                <c:pt idx="2">
                  <c:v>175</c:v>
                </c:pt>
                <c:pt idx="3">
                  <c:v>243</c:v>
                </c:pt>
                <c:pt idx="4">
                  <c:v>302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Mirae Asset LargeCap</c:v>
                </c:pt>
              </c:strCache>
            </c:strRef>
          </c:tx>
          <c:spPr>
            <a:solidFill>
              <a:srgbClr val="1F4E79"/>
            </a:solidFill>
            <a:ln w="31750" cap="flat">
              <a:solidFill>
                <a:srgbClr val="1F4E7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E79"/>
              </a:solidFill>
              <a:ln w="9525" cap="flat">
                <a:solidFill>
                  <a:srgbClr val="1F4E7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Jan'22</c:v>
                  </c:pt>
                  <c:pt idx="1">
                    <c:v>Jan'23</c:v>
                  </c:pt>
                  <c:pt idx="2">
                    <c:v>Jan'24</c:v>
                  </c:pt>
                  <c:pt idx="3">
                    <c:v>Jan'25</c:v>
                  </c:pt>
                  <c:pt idx="4">
                    <c:v>May'26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</c:v>
                </c:pt>
                <c:pt idx="1">
                  <c:v>115</c:v>
                </c:pt>
                <c:pt idx="2">
                  <c:v>178</c:v>
                </c:pt>
                <c:pt idx="3">
                  <c:v>249</c:v>
                </c:pt>
                <c:pt idx="4">
                  <c:v>310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Nifty 100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Jan'22</c:v>
                  </c:pt>
                  <c:pt idx="1">
                    <c:v>Jan'23</c:v>
                  </c:pt>
                  <c:pt idx="2">
                    <c:v>Jan'24</c:v>
                  </c:pt>
                  <c:pt idx="3">
                    <c:v>Jan'25</c:v>
                  </c:pt>
                  <c:pt idx="4">
                    <c:v>May'26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100</c:v>
                </c:pt>
                <c:pt idx="1">
                  <c:v>107</c:v>
                </c:pt>
                <c:pt idx="2">
                  <c:v>128</c:v>
                </c:pt>
                <c:pt idx="3">
                  <c:v>148</c:v>
                </c:pt>
                <c:pt idx="4">
                  <c:v>162</c:v>
                </c:pt>
              </c:numCache>
            </c:numRef>
          </c:val>
          <c:smooth val="1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Nifty 50</c:v>
                </c:pt>
              </c:strCache>
            </c:strRef>
          </c:tx>
          <c:spPr>
            <a:solidFill>
              <a:srgbClr val="94A3B8"/>
            </a:solidFill>
            <a:ln w="3175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Jan'22</c:v>
                  </c:pt>
                  <c:pt idx="1">
                    <c:v>Jan'23</c:v>
                  </c:pt>
                  <c:pt idx="2">
                    <c:v>Jan'24</c:v>
                  </c:pt>
                  <c:pt idx="3">
                    <c:v>Jan'25</c:v>
                  </c:pt>
                  <c:pt idx="4">
                    <c:v>May'26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100</c:v>
                </c:pt>
                <c:pt idx="1">
                  <c:v>109</c:v>
                </c:pt>
                <c:pt idx="2">
                  <c:v>132</c:v>
                </c:pt>
                <c:pt idx="3">
                  <c:v>151</c:v>
                </c:pt>
                <c:pt idx="4">
                  <c:v>168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capstone covers an end-to-end mutual fund analytics platform built on real AMFI data. 46,000 NAV records, 40 schemes, 32,778 investor transactions across 12 Indian states.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Indian MF industry has seen explosive growth. SIP inflows tripled in 4 years. Folios doubled from 13 to 26 crore — indicating 13 million new investors.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objectives drive this project — from raw data ingestion to a production-ready dashboard and a proprietary fund scorecard.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ETL pipeline runs fully automated. Star schema with 6 tables supports the Power BI dashboard via direct CSV connection.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2023 bull run is clearly visible — mid and small cap schemes significantly outperformed the Nifty 50. Nifty 50 nearly flat in 2022, then steady climb.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Rf of 6.5% (RBI repo rate proxy) and 252 trading days. Liquid funds have highest Sharpe due to low volatility. For equity funds, HDFC Top 100 Direct shows Sharpe of 1.06.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scorecard gives investors a single number for fund comparison — not just raw returns but risk-adjusted, cost-adjusted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Debt and liquid funds have far lower drawdowns. Equity small cap funds can lose over 30% peak to trough. VaR and CVaR help quantify these risks statistically.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32,778 transactions from 5,000 investors. Maharashtra leads by volume. 26-35 cohort is the largest. SIP is the dominant mode at 58%.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HHI measures portfolio concentration. Flexi cap and large cap funds are well diversified (HHI ~1200-1500). Small cap and sectoral funds cluster in single sectors (HHI 2200+).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active mid cap funds significantly outperform benchmarks. Large cap active funds struggle to beat Nifty 100 net of costs — supporting passive fund choice for large cap exposure.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demonstrates full-stack data engineering and analytics for the fintech domain. Future scope includes real-time data, ML churn prediction, and Monte Carlo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chart" Target="/ppt/charts/chart9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02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33375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Insights into Indian Mutual Fund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Investor Behaviour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434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June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0" y="1280160"/>
            <a:ext cx="1737360" cy="1097280"/>
          </a:xfrm>
          <a:prstGeom prst="rect">
            <a:avLst>
              <a:gd name="adj" fmla="val 5000"/>
            </a:avLst>
          </a:prstGeom>
          <a:solidFill>
            <a:srgbClr val="132237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0" y="135331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46,000+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0" y="18745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Records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60920" y="1280160"/>
            <a:ext cx="1737360" cy="1097280"/>
          </a:xfrm>
          <a:prstGeom prst="rect">
            <a:avLst>
              <a:gd name="adj" fmla="val 5000"/>
            </a:avLst>
          </a:prstGeom>
          <a:solidFill>
            <a:srgbClr val="132237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60920" y="135331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60920" y="18745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Schemes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2606040"/>
            <a:ext cx="1737360" cy="1097280"/>
          </a:xfrm>
          <a:prstGeom prst="rect">
            <a:avLst>
              <a:gd name="adj" fmla="val 5000"/>
            </a:avLst>
          </a:prstGeom>
          <a:solidFill>
            <a:srgbClr val="132237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0" y="267919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₹31,002 Cr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0" y="32004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SIP (Dec '25)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0920" y="2606040"/>
            <a:ext cx="1737360" cy="1097280"/>
          </a:xfrm>
          <a:prstGeom prst="rect">
            <a:avLst>
              <a:gd name="adj" fmla="val 5000"/>
            </a:avLst>
          </a:prstGeom>
          <a:solidFill>
            <a:srgbClr val="132237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60920" y="267919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26.12 Cr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60920" y="320040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Folios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47091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sourced from AMFI India &amp; mfapi.in — all public sources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Mutual Fund Revolution in India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192024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12471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26.12 Cr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645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Folios (Dec 2025)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87168" y="1051560"/>
            <a:ext cx="192024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87168" y="112471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₹31,002 Cr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SIP Inflow Dec '25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62856" y="1051560"/>
            <a:ext cx="192024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62856" y="112471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₹12.5L Cr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62856" y="1645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— #1 AMC by AUM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38544" y="1051560"/>
            <a:ext cx="192024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38544" y="112471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38544" y="1645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Growth (2022→2025)</a:t>
            </a:r>
            <a:endParaRPr lang="en-US" sz="10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11480" y="2331720"/>
          <a:ext cx="53035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Chart 1" descr=""/>
          <p:cNvGraphicFramePr/>
          <p:nvPr/>
        </p:nvGraphicFramePr>
        <p:xfrm>
          <a:off x="5897880" y="2331720"/>
          <a:ext cx="30175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 &amp;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206240" cy="1097280"/>
          </a:xfrm>
          <a:prstGeom prst="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5488" y="1234440"/>
            <a:ext cx="457200" cy="457200"/>
          </a:xfrm>
          <a:prstGeom prst="rect">
            <a:avLst>
              <a:gd name="adj" fmla="val 12000"/>
            </a:avLst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75488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24128" y="11887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5087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ingestion of 10 datasets from AMFI &amp; mfapi.in REST API into SQLite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206240" cy="1097280"/>
          </a:xfrm>
          <a:prstGeom prst="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10328" y="1234440"/>
            <a:ext cx="457200" cy="457200"/>
          </a:xfrm>
          <a:prstGeom prst="rect">
            <a:avLst>
              <a:gd name="adj" fmla="val 12000"/>
            </a:avLst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58968" y="11887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58968" y="15087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normalised 6-table SQL schema for high-concurrency BI access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4206240" cy="1097280"/>
          </a:xfrm>
          <a:prstGeom prst="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2468880"/>
            <a:ext cx="457200" cy="457200"/>
          </a:xfrm>
          <a:prstGeom prst="rect">
            <a:avLst>
              <a:gd name="adj" fmla="val 12000"/>
            </a:avLst>
          </a:prstGeom>
          <a:solidFill>
            <a:srgbClr val="1F4E79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4128" y="24231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274320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analytical charts covering NAV trends, SIP growth, demographics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331720"/>
            <a:ext cx="4206240" cy="1097280"/>
          </a:xfrm>
          <a:prstGeom prst="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10328" y="2468880"/>
            <a:ext cx="457200" cy="457200"/>
          </a:xfrm>
          <a:prstGeom prst="rect">
            <a:avLst>
              <a:gd name="adj" fmla="val 12000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910328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58968" y="24231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Metrics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58968" y="274320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Sortino, Alpha, Beta, VaR 95%, Max Drawdown for 40 schemes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4206240" cy="1097280"/>
          </a:xfrm>
          <a:prstGeom prst="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3703320"/>
            <a:ext cx="457200" cy="457200"/>
          </a:xfrm>
          <a:prstGeom prst="rect">
            <a:avLst>
              <a:gd name="adj" fmla="val 12000"/>
            </a:avLst>
          </a:prstGeom>
          <a:solidFill>
            <a:srgbClr val="00B4D8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24128" y="3657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39776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interactive Power BI dashboard with slicers and drill-through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566160"/>
            <a:ext cx="4206240" cy="1097280"/>
          </a:xfrm>
          <a:prstGeom prst="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10328" y="3703320"/>
            <a:ext cx="457200" cy="457200"/>
          </a:xfrm>
          <a:prstGeom prst="rect">
            <a:avLst>
              <a:gd name="adj" fmla="val 12000"/>
            </a:avLst>
          </a:prstGeom>
          <a:solidFill>
            <a:srgbClr val="2E75B6"/>
          </a:solidFill>
          <a:ln/>
        </p:spPr>
      </p:sp>
      <p:sp>
        <p:nvSpPr>
          <p:cNvPr id="30" name="Text 28"/>
          <p:cNvSpPr/>
          <p:nvPr/>
        </p:nvSpPr>
        <p:spPr>
          <a:xfrm>
            <a:off x="4910328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58968" y="3657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58968" y="397764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0-100 scoring model for investor decision support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&amp; Star Schema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06040" cy="1371600"/>
          </a:xfrm>
          <a:prstGeom prst="rect">
            <a:avLst>
              <a:gd name="adj" fmla="val 5333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7899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CSVs + mfapi.in REST API — 10 files, 46k records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99232" y="14173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06040" cy="1371600"/>
          </a:xfrm>
          <a:prstGeom prst="rect">
            <a:avLst>
              <a:gd name="adj" fmla="val 5333"/>
            </a:avLst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07899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15087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parsing, ffill missing NAVs, type validation, dim_date generation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33872" y="14173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606040" cy="1371600"/>
          </a:xfrm>
          <a:prstGeom prst="rect">
            <a:avLst>
              <a:gd name="adj" fmla="val 5333"/>
            </a:avLst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07899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26480" y="15087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 → SQLite + processed CSVs for Power BI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78608"/>
          <a:ext cx="8412480" cy="233172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548640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dim_fund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schemes — AMC, category, risk grade, expense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dimension for time-series slicing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fact_nav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NAV values + computed daily returns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fact_transactions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/ Lumpsum / Redemption investor 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fact_aum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AUM per AMC in crores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fact_performance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Pre-computed Sharpe, Sortino, Alpha, Beta, CAGR, MaxDD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Performance: NAV Trends 2022–2026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6692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005840"/>
            <a:ext cx="2697480" cy="1115568"/>
          </a:xfrm>
          <a:prstGeom prst="rect">
            <a:avLst>
              <a:gd name="adj" fmla="val 57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309360" y="10789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Bull Run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309360" y="138988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&amp; mid cap funds surged 40-60% during 2023 — outpacing Nifty 50 by 3x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17920" y="2286000"/>
            <a:ext cx="2697480" cy="1115568"/>
          </a:xfrm>
          <a:prstGeom prst="rect">
            <a:avLst>
              <a:gd name="adj" fmla="val 57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09360" y="235915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Cap Edge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09360" y="267004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mid cap schemes reached 3.4x growth vs Nifty 50 at 1.7x over 4 years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3566160"/>
            <a:ext cx="2697480" cy="1115568"/>
          </a:xfrm>
          <a:prstGeom prst="rect">
            <a:avLst>
              <a:gd name="adj" fmla="val 57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09360" y="36393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Gap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09360" y="395020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mid cap funds beat Nifty 50 by avg 18% on 3yr CAGR basis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Analytics: Beyond CAGR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080760" y="1005840"/>
            <a:ext cx="2834640" cy="868680"/>
          </a:xfrm>
          <a:prstGeom prst="rect">
            <a:avLst>
              <a:gd name="adj" fmla="val 7368"/>
            </a:avLst>
          </a:prstGeom>
          <a:solidFill>
            <a:srgbClr val="00B4D8"/>
          </a:solidFill>
          <a:ln/>
        </p:spPr>
      </p:sp>
      <p:sp>
        <p:nvSpPr>
          <p:cNvPr id="5" name="Text 2"/>
          <p:cNvSpPr/>
          <p:nvPr/>
        </p:nvSpPr>
        <p:spPr>
          <a:xfrm>
            <a:off x="6172200" y="10607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172200" y="135331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(Rp – Rf) / σ × √252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per unit of total risk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080760" y="1975104"/>
            <a:ext cx="2834640" cy="868680"/>
          </a:xfrm>
          <a:prstGeom prst="rect">
            <a:avLst>
              <a:gd name="adj" fmla="val 7368"/>
            </a:avLst>
          </a:prstGeom>
          <a:solidFill>
            <a:srgbClr val="2E75B6"/>
          </a:solidFill>
          <a:ln/>
        </p:spPr>
      </p:sp>
      <p:sp>
        <p:nvSpPr>
          <p:cNvPr id="8" name="Text 5"/>
          <p:cNvSpPr/>
          <p:nvPr/>
        </p:nvSpPr>
        <p:spPr>
          <a:xfrm>
            <a:off x="6172200" y="2029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Ratio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72200" y="232257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downside 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skewed return dists.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80760" y="2944368"/>
            <a:ext cx="2834640" cy="868680"/>
          </a:xfrm>
          <a:prstGeom prst="rect">
            <a:avLst>
              <a:gd name="adj" fmla="val 7368"/>
            </a:avLst>
          </a:prstGeom>
          <a:solidFill>
            <a:srgbClr val="1F4E79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2999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72200" y="329184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of OLS regression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Nifty 100 daily returns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80760" y="3913632"/>
            <a:ext cx="2834640" cy="868680"/>
          </a:xfrm>
          <a:prstGeom prst="rect">
            <a:avLst>
              <a:gd name="adj" fmla="val 7368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72200" y="39684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72200" y="426110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of OLS regression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sensitivity measure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Bluestock Fund Scorecard (0–100)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960120"/>
          <a:ext cx="40233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960120"/>
          <a:ext cx="4389120" cy="3291840"/>
        </p:xfrm>
        <a:graphic>
          <a:graphicData uri="http://schemas.openxmlformats.org/drawingml/2006/table">
            <a:tbl>
              <a:tblPr/>
              <a:tblGrid>
                <a:gridCol w="2560320"/>
                <a:gridCol w="594360"/>
                <a:gridCol w="640080"/>
                <a:gridCol w="594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3yr CAGR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Bluechip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Mirae Asset Large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Top 100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Mid-Cap Opp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 Top 100 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ABSL Frontline 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Bluechip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Nippon Large Cap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26280" y="4297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0–100 score blending return quality, risk efficiency, and cost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Risk Assessment: VaR &amp; CVaR Analysis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870448" y="1005840"/>
            <a:ext cx="3044952" cy="1170432"/>
          </a:xfrm>
          <a:prstGeom prst="rect">
            <a:avLst>
              <a:gd name="adj" fmla="val 6250"/>
            </a:avLst>
          </a:prstGeom>
          <a:solidFill>
            <a:srgbClr val="1F4E79"/>
          </a:solidFill>
          <a:ln/>
        </p:spPr>
      </p:sp>
      <p:sp>
        <p:nvSpPr>
          <p:cNvPr id="5" name="Text 2"/>
          <p:cNvSpPr/>
          <p:nvPr/>
        </p:nvSpPr>
        <p:spPr>
          <a:xfrm>
            <a:off x="5961888" y="1078992"/>
            <a:ext cx="2862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(95%)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61888" y="1426464"/>
            <a:ext cx="28620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percentile of daily return distribution.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expected single-day loss in normal markets.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870448" y="2304288"/>
            <a:ext cx="3044952" cy="1170432"/>
          </a:xfrm>
          <a:prstGeom prst="rect">
            <a:avLst>
              <a:gd name="adj" fmla="val 6250"/>
            </a:avLst>
          </a:prstGeom>
          <a:solidFill>
            <a:srgbClr val="2E75B6"/>
          </a:solidFill>
          <a:ln/>
        </p:spPr>
      </p:sp>
      <p:sp>
        <p:nvSpPr>
          <p:cNvPr id="8" name="Text 5"/>
          <p:cNvSpPr/>
          <p:nvPr/>
        </p:nvSpPr>
        <p:spPr>
          <a:xfrm>
            <a:off x="5961888" y="2377440"/>
            <a:ext cx="2862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61888" y="2724912"/>
            <a:ext cx="28620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returns below VaR threshold.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loss in a tail-risk scenario.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70448" y="3602736"/>
            <a:ext cx="3044952" cy="1170432"/>
          </a:xfrm>
          <a:prstGeom prst="rect">
            <a:avLst>
              <a:gd name="adj" fmla="val 6250"/>
            </a:avLst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5961888" y="3675888"/>
            <a:ext cx="2862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61888" y="4023360"/>
            <a:ext cx="28620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Peak-to-trough NAV decline over entire history.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funds: -3.66% vs Small Cap: -23.61%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Indian Mutual Fund Investor?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0233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526280" y="1005840"/>
          <a:ext cx="23774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2" descr=""/>
          <p:cNvGraphicFramePr/>
          <p:nvPr/>
        </p:nvGraphicFramePr>
        <p:xfrm>
          <a:off x="7040880" y="1005840"/>
          <a:ext cx="1874520" cy="3858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Shape 1"/>
          <p:cNvSpPr/>
          <p:nvPr/>
        </p:nvSpPr>
        <p:spPr>
          <a:xfrm>
            <a:off x="365760" y="3675888"/>
            <a:ext cx="1993392" cy="1188720"/>
          </a:xfrm>
          <a:prstGeom prst="rect">
            <a:avLst>
              <a:gd name="adj" fmla="val 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7" name="Text 2"/>
          <p:cNvSpPr/>
          <p:nvPr/>
        </p:nvSpPr>
        <p:spPr>
          <a:xfrm>
            <a:off x="457200" y="3749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Digital-First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457200" y="404164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age group = highest SIP volume. Millennial adoption driving growth.</a:t>
            </a: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2514600" y="3675888"/>
            <a:ext cx="1993392" cy="1188720"/>
          </a:xfrm>
          <a:prstGeom prst="rect">
            <a:avLst>
              <a:gd name="adj" fmla="val 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2606040" y="3749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vs B30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2606040" y="404164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cities: 56% of volume. B30 (smaller cities) growing 2.5× faster.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663440" y="3675888"/>
            <a:ext cx="1993392" cy="1188720"/>
          </a:xfrm>
          <a:prstGeom prst="rect">
            <a:avLst>
              <a:gd name="adj" fmla="val 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4754880" y="3749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Dominance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754880" y="404164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58.49% of all transactions by value are systematic SIPs.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Concentration: Sector HHI Analysis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87552"/>
          <a:ext cx="53949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943600" y="987552"/>
            <a:ext cx="2971800" cy="1371600"/>
          </a:xfrm>
          <a:prstGeom prst="rect">
            <a:avLst>
              <a:gd name="adj" fmla="val 5333"/>
            </a:avLst>
          </a:prstGeom>
          <a:solidFill>
            <a:srgbClr val="1F4E79"/>
          </a:solidFill>
          <a:ln/>
        </p:spPr>
      </p:sp>
      <p:sp>
        <p:nvSpPr>
          <p:cNvPr id="5" name="Text 2"/>
          <p:cNvSpPr/>
          <p:nvPr/>
        </p:nvSpPr>
        <p:spPr>
          <a:xfrm>
            <a:off x="6035040" y="106070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HHI?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35040" y="1380744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= Σ(sector weight²)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score = more concentrated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bets in fewer sectors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943600" y="2542032"/>
            <a:ext cx="2971800" cy="713232"/>
          </a:xfrm>
          <a:prstGeom prst="rect">
            <a:avLst>
              <a:gd name="adj" fmla="val 8974"/>
            </a:avLst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0" y="2596896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1,500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35040" y="2889504"/>
            <a:ext cx="2788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Diversified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3346704"/>
            <a:ext cx="2971800" cy="713232"/>
          </a:xfrm>
          <a:prstGeom prst="rect">
            <a:avLst>
              <a:gd name="adj" fmla="val 8974"/>
            </a:avLst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6035040" y="3401568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1,500–2,000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0" y="3694176"/>
            <a:ext cx="2788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Moderately Concentrated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0" y="4151376"/>
            <a:ext cx="2971800" cy="713232"/>
          </a:xfrm>
          <a:prstGeom prst="rect">
            <a:avLst>
              <a:gd name="adj" fmla="val 8974"/>
            </a:avLst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0" y="420624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2,000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35040" y="4498848"/>
            <a:ext cx="2788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Concentrated — Sectoral/Thematic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260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Comparison &amp; Fund Recommender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87552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3858768"/>
            <a:ext cx="5394960" cy="1005840"/>
          </a:xfrm>
          <a:prstGeom prst="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02920" y="3931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Recommender Logic: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425196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→ Liquid / Debt funds (Sharpe &gt; 4)   |   Moderate → Flexi Cap (Sharpe 0.9–1.2)   |   High → Mid/Small Cap (Alpha &gt; 1.5)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16752" y="987552"/>
            <a:ext cx="2898648" cy="1097280"/>
          </a:xfrm>
          <a:prstGeom prst="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08192" y="1060704"/>
            <a:ext cx="2715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108192" y="1490472"/>
            <a:ext cx="2715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large cap funds that failed to beat Nifty 100 after expense ratios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016752" y="2249424"/>
            <a:ext cx="2898648" cy="1097280"/>
          </a:xfrm>
          <a:prstGeom prst="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08192" y="2322576"/>
            <a:ext cx="2715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108192" y="2752344"/>
            <a:ext cx="2715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3yr alpha of top mid cap funds vs Nifty Midcap 150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16752" y="3511296"/>
            <a:ext cx="2898648" cy="1097280"/>
          </a:xfrm>
          <a:prstGeom prst="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08192" y="3584448"/>
            <a:ext cx="2715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108192" y="4014216"/>
            <a:ext cx="2715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error of liquid funds against CRISIL Liquid Index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114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Future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Intelligence → Wealth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43891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Full ETL pipeline — 46k+ records, 6-table SQLite star schema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15+ EDA charts documenting the SIP revolution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Risk-adjusted scorecards for 40 schemes (Sharpe, Alpha, VaR)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4-page Power BI dashboard with slicers &amp; drill-through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Demographic analysis: 5,000 investors across 12 states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03520" y="1005840"/>
            <a:ext cx="1810512" cy="1234440"/>
          </a:xfrm>
          <a:prstGeom prst="rect">
            <a:avLst>
              <a:gd name="adj" fmla="val 5926"/>
            </a:avLst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0" y="109728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NAV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94960" y="1463040"/>
            <a:ext cx="1627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mfapi.in cron job polling every weekday at 8 PM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269480" y="1005840"/>
            <a:ext cx="1810512" cy="1234440"/>
          </a:xfrm>
          <a:prstGeom prst="rect">
            <a:avLst>
              <a:gd name="adj" fmla="val 5926"/>
            </a:avLst>
          </a:prstGeom>
          <a:solidFill>
            <a:srgbClr val="2E75B6"/>
          </a:solidFill>
          <a:ln/>
        </p:spPr>
      </p:sp>
      <p:sp>
        <p:nvSpPr>
          <p:cNvPr id="10" name="Text 8"/>
          <p:cNvSpPr/>
          <p:nvPr/>
        </p:nvSpPr>
        <p:spPr>
          <a:xfrm>
            <a:off x="7360920" y="109728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60920" y="1463040"/>
            <a:ext cx="1627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alternative to Power BI for retail investors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2423160"/>
            <a:ext cx="1810512" cy="1234440"/>
          </a:xfrm>
          <a:prstGeom prst="rect">
            <a:avLst>
              <a:gd name="adj" fmla="val 5926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251460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Churn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94960" y="2880360"/>
            <a:ext cx="1627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SIP lapse risk using transaction history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269480" y="2423160"/>
            <a:ext cx="1810512" cy="1234440"/>
          </a:xfrm>
          <a:prstGeom prst="rect">
            <a:avLst>
              <a:gd name="adj" fmla="val 5926"/>
            </a:avLst>
          </a:prstGeom>
          <a:solidFill>
            <a:srgbClr val="1F4E79"/>
          </a:solidFill>
          <a:ln/>
        </p:spPr>
      </p:sp>
      <p:sp>
        <p:nvSpPr>
          <p:cNvPr id="16" name="Text 14"/>
          <p:cNvSpPr/>
          <p:nvPr/>
        </p:nvSpPr>
        <p:spPr>
          <a:xfrm>
            <a:off x="7360920" y="251460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60920" y="2880360"/>
            <a:ext cx="1627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NAV growth projections with uncertainty bands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45262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Bluestock Fintech Capstone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Analytics Platform</dc:title>
  <dc:subject>PptxGenJS Presentation</dc:subject>
  <dc:creator>Bluestock Fintech Capstone 2026</dc:creator>
  <cp:lastModifiedBy>Bluestock Fintech Capstone 2026</cp:lastModifiedBy>
  <cp:revision>1</cp:revision>
  <dcterms:created xsi:type="dcterms:W3CDTF">2026-06-17T03:50:57Z</dcterms:created>
  <dcterms:modified xsi:type="dcterms:W3CDTF">2026-06-17T03:50:57Z</dcterms:modified>
</cp:coreProperties>
</file>